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81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A0D"/>
          </a:solidFill>
          <a:ln w="12700">
            <a:solidFill>
              <a:srgbClr val="0A1A0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2261A">
              <a:alpha val="80000"/>
            </a:srgbClr>
          </a:solidFill>
          <a:ln w="12700">
            <a:solidFill>
              <a:srgbClr val="122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97280" y="548640"/>
            <a:ext cx="3657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45920" y="822960"/>
            <a:ext cx="2560320" cy="2560320"/>
          </a:xfrm>
          <a:prstGeom prst="ellipse">
            <a:avLst/>
          </a:prstGeom>
          <a:solidFill>
            <a:srgbClr val="2E7D32">
              <a:alpha val="25000"/>
            </a:srgbClr>
          </a:solidFill>
          <a:ln w="12700">
            <a:solidFill>
              <a:srgbClr val="2E7D3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AGRIASSIST: SMART FARMER ADVISORY,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&amp; VENDOR RECOMMENDATION SYSTEM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152292" y="1198568"/>
            <a:ext cx="3566160" cy="32918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5D6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0" y="129633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18052" y="157980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MUBARAK 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0" y="1891401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2193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/ Decision Support System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02226" y="251319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0" y="2813539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J. College of Engineering &amp; Technology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502226" y="311986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18052" y="3412471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2025 - 2028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1009"/>
          </a:solidFill>
          <a:ln w="12700">
            <a:solidFill>
              <a:srgbClr val="0610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 Track  ·  Console-Based Python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6459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638756" y="3956538"/>
            <a:ext cx="1505244" cy="1186961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9277" y="306324"/>
            <a:ext cx="6499274" cy="488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88388" y="1044043"/>
            <a:ext cx="4206240" cy="2446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Agriculture is India's backbone — yet most small farmers lack structured guidance.
</a:t>
            </a: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million+ small and marginal farmers across India.
</a:t>
            </a: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 tradition and word-of-mouth, not data.
</a:t>
            </a: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capture most of the profit, leaving farmers underpaid.
</a:t>
            </a: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scheme eligibility, input guidance, or market data.
</a:t>
            </a: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connectivity limits app or web-based solutions.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558" y="3438144"/>
            <a:ext cx="4114800" cy="1094114"/>
          </a:xfrm>
          <a:prstGeom prst="rect">
            <a:avLst/>
          </a:prstGeom>
          <a:solidFill>
            <a:srgbClr val="A8D5C2"/>
          </a:solidFill>
          <a:ln w="12700">
            <a:solidFill>
              <a:srgbClr val="A8D5C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3452" y="3542333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zero-dependency, offline-capable Python advisory system that gives every farmer the decision power of an expert agricultural officer.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950976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F5F8FA"/>
          </a:solidFill>
          <a:ln w="12700">
            <a:solidFill>
              <a:srgbClr val="D0E8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06656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950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Guidance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80892" y="1211931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&amp; soil-based crop recommendation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03652" y="1947672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F5F8FA"/>
          </a:solidFill>
          <a:ln w="12700">
            <a:solidFill>
              <a:srgbClr val="D0E8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30903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Advisory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94960" y="2185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PM-KISAN, insurance &amp; subsidies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03652" y="2954655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F5F8FA"/>
          </a:solidFill>
          <a:ln w="12700">
            <a:solidFill>
              <a:srgbClr val="D0E8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44217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3075637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Prediction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39496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revenue &amp; ROI estimate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49372" y="3956539"/>
            <a:ext cx="2834640" cy="804672"/>
          </a:xfrm>
          <a:prstGeom prst="roundRect">
            <a:avLst>
              <a:gd name="adj" fmla="val 11364"/>
            </a:avLst>
          </a:prstGeom>
          <a:solidFill>
            <a:srgbClr val="F5F8FA"/>
          </a:solidFill>
          <a:ln w="12700">
            <a:solidFill>
              <a:srgbClr val="D0E8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17880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19578" y="4236925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buyer &amp; price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3182" y="0"/>
            <a:ext cx="1260817" cy="1410639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732861"/>
            <a:ext cx="1645920" cy="1410639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4895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10180"/>
            <a:ext cx="411480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31281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farmer reality in India: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9504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advisory — crops chosen by guesswork or peer pressure, not soil or seasonal science.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dependency compresses farmer income to 30–40% of market price.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3408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and pesticide misuse harms soil health and adds avoidable cost every season.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79173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schemes (PM-KISAN, Crop Insurance) go unclaimed due to poor awareness.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20708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pre-season cost/profit estimate — farmers commit budgets without financial visibility.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4122186"/>
            <a:ext cx="6400800" cy="761766"/>
          </a:xfrm>
          <a:prstGeom prst="rect">
            <a:avLst/>
          </a:prstGeom>
          <a:solidFill>
            <a:srgbClr val="A8D5C2"/>
          </a:solidFill>
          <a:ln w="12700">
            <a:solidFill>
              <a:srgbClr val="A8D5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5810" y="4212219"/>
            <a:ext cx="60121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System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accessible, offline-capable advisory tool that consolidates crop science, financial planning, and market data into one guided console session — available at Krishi Vigyan Kendras and Common Service Centres.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9034" y="1405011"/>
            <a:ext cx="1427871" cy="905256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57932" y="1410639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64967" y="1864497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28703" y="1341973"/>
            <a:ext cx="1417320" cy="949744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60123" y="1388661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9360" y="18784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Retained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567706"/>
            <a:ext cx="1427871" cy="905256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73061" y="2589861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25815" y="297461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Schemes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8133" y="2531659"/>
            <a:ext cx="1427871" cy="861997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42074" y="2557331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19447" y="3010485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Advisory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6459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45860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50976"/>
            <a:ext cx="2011680" cy="34747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646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AgriAssist — a console-based Python decision-support system that accepts 6 farmer inputs and delivers a complete season advisory covering crop, inputs, finance, market, and risk — in one offline session.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82483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crop scoring engine (soil + water + season)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898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eligibility checker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&amp; pesticide matching by soil and crop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4796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buyer ranking with price comparison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398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cost, revenue &amp; profit estimation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019843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risk score with breakdown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75052" y="1124712"/>
            <a:ext cx="3017520" cy="3657600"/>
          </a:xfrm>
          <a:prstGeom prst="rect">
            <a:avLst/>
          </a:prstGeom>
          <a:solidFill>
            <a:srgbClr val="0D3320"/>
          </a:solidFill>
          <a:ln w="12700">
            <a:noFill/>
            <a:prstDash val="solid"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4283612" y="1189775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44568" y="1613916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62856" y="16322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5636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enters 6 inputs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704" y="2094679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86772" y="2112967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0528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validated &amp; stored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3407" y="257175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86772" y="25877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251741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run in sequence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96618" y="308152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81144" y="3088561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0266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reads prior 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86772" y="358444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86772" y="359429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5341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Report assembled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04004" y="4061343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04004" y="40873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0700" y="40370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printed / saved as .txt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320040"/>
            <a:ext cx="49025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79060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for AgriAssist — Smart Farmer Advisory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01952" y="140817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LAYER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66744" y="140817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MODULE ENGINE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31536" y="140817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LAYER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96328" y="140817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 LAYER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7160" y="4800600"/>
            <a:ext cx="886968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82880" y="48188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· No database · No internet required — fully offline console application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D3F7FB-ADFC-4258-A430-BFDA9159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63" y="1138076"/>
            <a:ext cx="3984036" cy="3635091"/>
          </a:xfrm>
          <a:prstGeom prst="rect">
            <a:avLst/>
          </a:prstGeom>
        </p:spPr>
      </p:pic>
      <p:sp>
        <p:nvSpPr>
          <p:cNvPr id="33" name="Shape 2">
            <a:extLst>
              <a:ext uri="{FF2B5EF4-FFF2-40B4-BE49-F238E27FC236}">
                <a16:creationId xmlns:a16="http://schemas.microsoft.com/office/drawing/2014/main" id="{6E5D918A-FD26-C933-A5F9-AA28264A75F9}"/>
              </a:ext>
            </a:extLst>
          </p:cNvPr>
          <p:cNvSpPr/>
          <p:nvPr/>
        </p:nvSpPr>
        <p:spPr>
          <a:xfrm>
            <a:off x="5431536" y="1622709"/>
            <a:ext cx="2560320" cy="2560320"/>
          </a:xfrm>
          <a:prstGeom prst="ellipse">
            <a:avLst/>
          </a:prstGeom>
          <a:solidFill>
            <a:srgbClr val="2E7D32">
              <a:alpha val="25000"/>
            </a:srgbClr>
          </a:solidFill>
          <a:ln w="12700">
            <a:solidFill>
              <a:srgbClr val="2E7D3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9524D1DA-B4D6-7540-3294-8ECCFACE47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021037" y="1074069"/>
            <a:ext cx="3657600" cy="36576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5ED07FE-F38A-30E3-3742-D4C957596B7F}"/>
              </a:ext>
            </a:extLst>
          </p:cNvPr>
          <p:cNvSpPr txBox="1"/>
          <p:nvPr/>
        </p:nvSpPr>
        <p:spPr>
          <a:xfrm>
            <a:off x="5681940" y="2375635"/>
            <a:ext cx="895409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txBody>
          <a:bodyPr wrap="square" rtlCol="0">
            <a:spAutoFit/>
          </a:bodyPr>
          <a:lstStyle/>
          <a:p>
            <a:r>
              <a:rPr lang="en-US" sz="1400" dirty="0"/>
              <a:t>AgriAssist</a:t>
            </a:r>
            <a:endParaRPr lang="en-I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6459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58380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METHODOLOGY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377440" cy="34747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43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static JSON datasets loaded at startup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5819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Crops, schemes, fertilizers, pesticides, loans, vendors, market prices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Flat-file design — no database server needed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42974"/>
            <a:ext cx="2377440" cy="34747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237955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74109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run in strict dependency order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08856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receives output of prior module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3924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classes + dataclasses for clean structure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836611"/>
            <a:ext cx="2377440" cy="34747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3836611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Logic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" y="42428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scoring: Soil(40) + Water(35) + Season(25) = 100pts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5029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Water risk + Market risk + Budget risk = 0-100%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5376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= Revenue − (Cultivation + Fertilizer + Pesticide)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1350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Execution Flow</a:t>
            </a:r>
            <a:endParaRPr lang="en-US" sz="1200" b="1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1828800" cy="713232"/>
          </a:xfrm>
          <a:prstGeom prst="roundRect">
            <a:avLst>
              <a:gd name="adj" fmla="val 10256"/>
            </a:avLst>
          </a:prstGeom>
          <a:ln/>
        </p:spPr>
        <p:style>
          <a:lnRef idx="1">
            <a:schemeClr val="dk1"/>
          </a:lnRef>
          <a:fillRef idx="1001">
            <a:schemeClr val="dk2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36592" y="14081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Profile Collection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1719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validated inputs from farmer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1371600"/>
            <a:ext cx="1828800" cy="713232"/>
          </a:xfrm>
          <a:prstGeom prst="roundRect">
            <a:avLst>
              <a:gd name="adj" fmla="val 10256"/>
            </a:avLst>
          </a:prstGeom>
          <a:ln/>
        </p:spPr>
        <p:style>
          <a:lnRef idx="1">
            <a:schemeClr val="dk1"/>
          </a:lnRef>
          <a:fillRef idx="1001">
            <a:schemeClr val="dk2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48272" y="14081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Crop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48272" y="1719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 all 10 crops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212848"/>
            <a:ext cx="1828800" cy="713232"/>
          </a:xfrm>
          <a:prstGeom prst="roundRect">
            <a:avLst>
              <a:gd name="adj" fmla="val 10256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36592" y="22494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Fertilizer + Pesticide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36592" y="25603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 crop &amp; soil type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75120" y="2212848"/>
            <a:ext cx="1828800" cy="713232"/>
          </a:xfrm>
          <a:prstGeom prst="roundRect">
            <a:avLst>
              <a:gd name="adj" fmla="val 10256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748272" y="22494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Scheme Advisor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48272" y="256032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check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054096"/>
            <a:ext cx="1828800" cy="713232"/>
          </a:xfrm>
          <a:prstGeom prst="roundRect">
            <a:avLst>
              <a:gd name="adj" fmla="val 10256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36592" y="30906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Profit Predictor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36592" y="34015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revenue, ROI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75120" y="3054096"/>
            <a:ext cx="1828800" cy="713232"/>
          </a:xfrm>
          <a:prstGeom prst="roundRect">
            <a:avLst>
              <a:gd name="adj" fmla="val 10256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748272" y="30906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Loan Module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48272" y="34015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gap &amp; loan options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895344"/>
            <a:ext cx="1828800" cy="713232"/>
          </a:xfrm>
          <a:prstGeom prst="roundRect">
            <a:avLst>
              <a:gd name="adj" fmla="val 10256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36592" y="3931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Risk Assessment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36592" y="42428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3-factor risk score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75120" y="3895344"/>
            <a:ext cx="1828800" cy="713232"/>
          </a:xfrm>
          <a:prstGeom prst="roundRect">
            <a:avLst>
              <a:gd name="adj" fmla="val 10256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748272" y="3931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Report Generator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48272" y="42428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advisory output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6459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516987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AgriAssist delivers to a farmer in one session: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06040" cy="1353312"/>
          </a:xfrm>
          <a:prstGeom prst="roundRect">
            <a:avLst>
              <a:gd name="adj" fmla="val 6757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5819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Crop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1671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crop for current soil, water &amp; season — with suitability score and 2 alternatives.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08960" y="1508760"/>
            <a:ext cx="2606040" cy="1353312"/>
          </a:xfrm>
          <a:prstGeom prst="roundRect">
            <a:avLst>
              <a:gd name="adj" fmla="val 6757"/>
            </a:avLst>
          </a:prstGeom>
          <a:solidFill>
            <a:srgbClr val="F5F8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737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5819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46120" y="21671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fertilizer &amp; pesticide with dosage, company name, and total cost per farm.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0" y="1508760"/>
            <a:ext cx="2606040" cy="1353312"/>
          </a:xfrm>
          <a:prstGeom prst="roundRect">
            <a:avLst>
              <a:gd name="adj" fmla="val 6757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373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5819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Benefits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80760" y="21671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government schemes checked — PM-KISAN, Crop Insurance, Irrigation Subsidy &amp; more.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3017520"/>
            <a:ext cx="2606040" cy="1353312"/>
          </a:xfrm>
          <a:prstGeom prst="roundRect">
            <a:avLst>
              <a:gd name="adj" fmla="val 6757"/>
            </a:avLst>
          </a:prstGeom>
          <a:solidFill>
            <a:srgbClr val="F5F8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24612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0906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Forecast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11480" y="3675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breakdown, expected revenue, net profit &amp; ROI% before the season starts.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108960" y="3017520"/>
            <a:ext cx="2606040" cy="1353312"/>
          </a:xfrm>
          <a:prstGeom prst="roundRect">
            <a:avLst>
              <a:gd name="adj" fmla="val 6757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24612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49040" y="30906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Buyer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246120" y="3675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vendor list with price premium, rating &amp; contact — no middleman required.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943600" y="3017520"/>
            <a:ext cx="2606040" cy="1353312"/>
          </a:xfrm>
          <a:prstGeom prst="roundRect">
            <a:avLst>
              <a:gd name="adj" fmla="val 6757"/>
            </a:avLst>
          </a:prstGeom>
          <a:solidFill>
            <a:srgbClr val="F5F8FA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246120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83680" y="30906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080760" y="3675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 overall risk with water, market &amp; budget sub-scores and plain-language verdict.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0" y="481888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compiled into one printable Farmer Advisory Report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6459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DISSEMINATION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715" y="3759766"/>
            <a:ext cx="4246685" cy="1222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 Plan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Krishi Vigyan Kendras (KVKs).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Common Service Centres (CSCs) in rural blocks.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NGOs and Farmer Producer Organisations (FPOs).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deployment — standard Python 3.10+ on any laptop.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170432"/>
            <a:ext cx="1600200" cy="1115568"/>
          </a:xfrm>
          <a:prstGeom prst="roundRect">
            <a:avLst>
              <a:gd name="adj" fmla="val 8197"/>
            </a:avLst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09160" y="18470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sample farm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170432"/>
            <a:ext cx="1600200" cy="1115568"/>
          </a:xfrm>
          <a:prstGeom prst="roundRect">
            <a:avLst>
              <a:gd name="adj" fmla="val 8197"/>
            </a:avLst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12618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92240" y="18470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per farmer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423160"/>
            <a:ext cx="1600200" cy="1115568"/>
          </a:xfrm>
          <a:prstGeom prst="roundRect">
            <a:avLst>
              <a:gd name="adj" fmla="val 8197"/>
            </a:avLst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09160" y="2514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9160" y="30998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deploy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423160"/>
            <a:ext cx="1600200" cy="1115568"/>
          </a:xfrm>
          <a:prstGeom prst="roundRect">
            <a:avLst>
              <a:gd name="adj" fmla="val 8197"/>
            </a:avLst>
          </a:prstGeom>
          <a:solidFill>
            <a:srgbClr val="FCE4EC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30998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72465" y="365760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77740" y="371949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0918" y="43708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Centres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23560" y="3692592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23560" y="375976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00700" y="43676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Service Centres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92240" y="3668854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92240" y="3745523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437083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Collectives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60920" y="3630168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60920" y="374675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60920" y="43783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Organisations</a:t>
            </a:r>
            <a:endParaRPr lang="en-US" sz="8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125DFA-DDC8-49CB-6962-525B9F845AD0}"/>
              </a:ext>
            </a:extLst>
          </p:cNvPr>
          <p:cNvSpPr txBox="1"/>
          <p:nvPr/>
        </p:nvSpPr>
        <p:spPr>
          <a:xfrm>
            <a:off x="135400" y="1259751"/>
            <a:ext cx="45438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farmer dependence on middlemen.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government scheme benefits that go unclaimed.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small &amp; marginal landholders with expert-level advisory.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operated by CSC staff on behalf of low-literacy farmers.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6403CF-7377-BED7-A121-F433A593DF69}"/>
              </a:ext>
            </a:extLst>
          </p:cNvPr>
          <p:cNvSpPr txBox="1"/>
          <p:nvPr/>
        </p:nvSpPr>
        <p:spPr>
          <a:xfrm>
            <a:off x="119575" y="2635246"/>
            <a:ext cx="45755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scenario: Rs.2,98,375 net profit vs Rs.50,000 budget.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recommendation delivers 6–10% above-market price.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 reduction through correct fertilizer/pesticide match.</a:t>
            </a:r>
            <a:endParaRPr lang="en-I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6459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2648" y="1170432"/>
            <a:ext cx="2011680" cy="34747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210877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15727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(free)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8699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(free)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218770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datasets (built-in)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2497015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Windows/Linux laptop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" y="2841321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" y="3230469"/>
            <a:ext cx="2011680" cy="34747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7784" y="3264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" y="3612935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Crop 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3923831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Finance &amp; Govt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234727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Market &amp;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10740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1  Weeks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54680" y="1924460"/>
            <a:ext cx="4206240" cy="5486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81528" y="1741580"/>
            <a:ext cx="384048" cy="38404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07408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90088" y="132095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2235356"/>
            <a:ext cx="804672" cy="219456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 w="12700">
            <a:solidFill>
              <a:srgbClr val="D0D0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916936" y="22902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16936" y="2719988"/>
            <a:ext cx="731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models, datasets, folder structure, stubs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13048" y="174158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38928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21608" y="132095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2235356"/>
            <a:ext cx="804672" cy="219456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 w="12700">
            <a:solidFill>
              <a:srgbClr val="D0D0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48456" y="22902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48456" y="2719988"/>
            <a:ext cx="731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&amp; 2 modules built and unit-tested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44568" y="1741580"/>
            <a:ext cx="384048" cy="384048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870448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53128" y="132095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43400" y="2235356"/>
            <a:ext cx="804672" cy="219456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 w="12700">
            <a:solidFill>
              <a:srgbClr val="D0D0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79976" y="22902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79976" y="2719988"/>
            <a:ext cx="731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wired through main.py controller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76088" y="1741580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601968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84648" y="132095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2235356"/>
            <a:ext cx="804672" cy="219456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 w="12700">
            <a:solidFill>
              <a:srgbClr val="D0D0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11496" y="22902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11496" y="2719988"/>
            <a:ext cx="731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skeleton completed, new modules added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07608" y="1741580"/>
            <a:ext cx="384048" cy="38404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333488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16168" y="132095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2235356"/>
            <a:ext cx="804672" cy="219456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 w="12700">
            <a:solidFill>
              <a:srgbClr val="D0D0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843016" y="22902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43016" y="2719988"/>
            <a:ext cx="731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farmer scenarios tested, edge cases fixed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39128" y="1741580"/>
            <a:ext cx="384048" cy="384048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065008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47688" y="132095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37960" y="2235356"/>
            <a:ext cx="804672" cy="2194560"/>
          </a:xfrm>
          <a:prstGeom prst="roundRect">
            <a:avLst>
              <a:gd name="adj" fmla="val 9091"/>
            </a:avLst>
          </a:prstGeom>
          <a:solidFill>
            <a:srgbClr val="F5F8FA"/>
          </a:solidFill>
          <a:ln w="12700">
            <a:solidFill>
              <a:srgbClr val="D0D0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574536" y="22902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574536" y="2719988"/>
            <a:ext cx="731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demo, presentation ready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02920" cy="164592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320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0A1A0D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97280" y="1371600"/>
            <a:ext cx="246888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AgriAssist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0" y="987552"/>
            <a:ext cx="4251960" cy="2880360"/>
          </a:xfrm>
          <a:prstGeom prst="roundRect">
            <a:avLst>
              <a:gd name="adj" fmla="val 3175"/>
            </a:avLst>
          </a:prstGeom>
          <a:solidFill>
            <a:srgbClr val="A8D5C2"/>
          </a:solidFill>
          <a:ln w="12700">
            <a:solidFill>
              <a:srgbClr val="A8D5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709160" y="1078992"/>
            <a:ext cx="39776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12-module console advisory system for small and marginal Indian farmers.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crop science, government scheme awareness, financial planning, and market intelligence.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— runs on any laptop with Python, zero infrastructure required.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complete Farmer Advisory Report in one guided session.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from academic project to KVK/CSC pilot deployment.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0" y="39136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0" y="42793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interpretable, and accessible farmer advisory framework — built for rural India.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 </a:t>
            </a:r>
            <a:r>
              <a:rPr lang="en-US" sz="1300" kern="0" spc="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QUESTIONS &amp; DISCUSSION  </a:t>
            </a: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Presented by: </a:t>
            </a:r>
            <a:r>
              <a:rPr lang="en-US" sz="110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MUBARAK S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5FACE-53FD-09F0-0DCA-1E5DA4C8F66D}"/>
              </a:ext>
            </a:extLst>
          </p:cNvPr>
          <p:cNvSpPr txBox="1"/>
          <p:nvPr/>
        </p:nvSpPr>
        <p:spPr>
          <a:xfrm rot="241608">
            <a:off x="2463252" y="1741279"/>
            <a:ext cx="895409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txBody>
          <a:bodyPr wrap="square" rtlCol="0">
            <a:spAutoFit/>
          </a:bodyPr>
          <a:lstStyle/>
          <a:p>
            <a:r>
              <a:rPr lang="en-US" sz="1400" dirty="0"/>
              <a:t>AgriAssist</a:t>
            </a:r>
            <a:endParaRPr lang="en-I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1204</Words>
  <Application>Microsoft Office PowerPoint</Application>
  <PresentationFormat>On-screen Show (16:9)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AgriAssist — Smart Farmer Advisory System</dc:title>
  <dc:subject>PptxGenJS Presentation</dc:subject>
  <dc:creator>PptxGenJS</dc:creator>
  <cp:lastModifiedBy>Mubarak S</cp:lastModifiedBy>
  <cp:revision>5</cp:revision>
  <dcterms:created xsi:type="dcterms:W3CDTF">2026-06-29T05:40:52Z</dcterms:created>
  <dcterms:modified xsi:type="dcterms:W3CDTF">2026-07-03T06:03:30Z</dcterms:modified>
</cp:coreProperties>
</file>