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8181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6EA37-7D30-AF3E-2B78-D36F9B7FD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FAFD25-629A-6218-3DFD-31D8748B8F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207B3-8625-2FC8-D349-4C4DD7ACA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B10EB-D0EE-CCD6-86CF-65F787A8E2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0954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A0D"/>
          </a:solidFill>
          <a:ln w="12700">
            <a:solidFill>
              <a:srgbClr val="0A1A0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12261A">
              <a:alpha val="80000"/>
            </a:srgbClr>
          </a:solidFill>
          <a:ln w="12700">
            <a:solidFill>
              <a:srgbClr val="12261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97280" y="548640"/>
            <a:ext cx="36576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45920" y="822960"/>
            <a:ext cx="2560320" cy="2560320"/>
          </a:xfrm>
          <a:prstGeom prst="ellipse">
            <a:avLst/>
          </a:prstGeom>
          <a:solidFill>
            <a:srgbClr val="2E7D32">
              <a:alpha val="25000"/>
            </a:srgbClr>
          </a:solidFill>
          <a:ln w="12700">
            <a:solidFill>
              <a:srgbClr val="2E7D32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274320" y="91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AGRIASSIST: SMART FARMER ADVISORY,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74320" y="56692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2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&amp; VENDOR RECOMMENDATION SYSTEM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152292" y="1198568"/>
            <a:ext cx="3566160" cy="32918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A5D6A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5486400" y="129633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518052" y="157980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MUBARAK 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0" y="1891401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0" y="2193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AgriTech / Decision Support System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02226" y="2513193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0" y="2813539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J. College of Engineering &amp; Technology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502226" y="3119863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518052" y="3412471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2025 - 2028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61009"/>
          </a:solidFill>
          <a:ln w="12700">
            <a:solidFill>
              <a:srgbClr val="0610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Software Track  ·  Console-Based Python Application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638756" y="3956538"/>
            <a:ext cx="1505244" cy="1186961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9277" y="306324"/>
            <a:ext cx="6499274" cy="488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OBJECTIVE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88388" y="1044043"/>
            <a:ext cx="4206240" cy="2446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Agriculture is India's backbone — yet most small farmers lack structured guidance.
</a:t>
            </a: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million+ small and marginal farmers across India.
</a:t>
            </a: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made on tradition and word-of-mouth, not data.
</a:t>
            </a: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Middlemen capture most of the profit, leaving farmers underpaid.
</a:t>
            </a: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 to scheme eligibility, input guidance, or market data.
</a:t>
            </a: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connectivity limits app or web-based solutions.
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3558" y="3438144"/>
            <a:ext cx="4114800" cy="1094114"/>
          </a:xfrm>
          <a:prstGeom prst="rect">
            <a:avLst/>
          </a:prstGeom>
          <a:solidFill>
            <a:srgbClr val="A8D5C2"/>
          </a:solidFill>
          <a:ln w="12700">
            <a:solidFill>
              <a:srgbClr val="A8D5C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53452" y="3542333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
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zero-dependency, offline-capable Python advisory system that gives every farmer the decision power of an expert agricultural officer.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950976"/>
            <a:ext cx="2834640" cy="804672"/>
          </a:xfrm>
          <a:prstGeom prst="roundRect">
            <a:avLst>
              <a:gd name="adj" fmla="val 11364"/>
            </a:avLst>
          </a:prstGeom>
          <a:solidFill>
            <a:srgbClr val="F5F8FA"/>
          </a:solidFill>
          <a:ln w="12700">
            <a:solidFill>
              <a:srgbClr val="D0E8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06656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49240" y="9506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Guidance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80892" y="1211931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&amp; soil-based crop recommendation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03652" y="1947672"/>
            <a:ext cx="2834640" cy="804672"/>
          </a:xfrm>
          <a:prstGeom prst="roundRect">
            <a:avLst>
              <a:gd name="adj" fmla="val 11364"/>
            </a:avLst>
          </a:prstGeom>
          <a:solidFill>
            <a:srgbClr val="F5F8FA"/>
          </a:solidFill>
          <a:ln w="12700">
            <a:solidFill>
              <a:srgbClr val="D0E8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130903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94960" y="2011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Advisory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394960" y="21854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PM-KISAN, insurance &amp; subsidies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603652" y="2954655"/>
            <a:ext cx="2834640" cy="804672"/>
          </a:xfrm>
          <a:prstGeom prst="roundRect">
            <a:avLst>
              <a:gd name="adj" fmla="val 11364"/>
            </a:avLst>
          </a:prstGeom>
          <a:solidFill>
            <a:srgbClr val="F5F8FA"/>
          </a:solidFill>
          <a:ln w="12700">
            <a:solidFill>
              <a:srgbClr val="D0E8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144217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394960" y="307563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Prediction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394960" y="32461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revenue &amp; ROI estimate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649372" y="3956539"/>
            <a:ext cx="2834640" cy="804672"/>
          </a:xfrm>
          <a:prstGeom prst="roundRect">
            <a:avLst>
              <a:gd name="adj" fmla="val 11364"/>
            </a:avLst>
          </a:prstGeom>
          <a:solidFill>
            <a:srgbClr val="F5F8FA"/>
          </a:solidFill>
          <a:ln w="12700">
            <a:solidFill>
              <a:srgbClr val="D0E8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4178808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94960" y="4041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19578" y="4236925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buyer &amp; price comparison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83182" y="0"/>
            <a:ext cx="1260817" cy="1410639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498080" y="3732861"/>
            <a:ext cx="1645920" cy="1410639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320040"/>
            <a:ext cx="489555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0180"/>
            <a:ext cx="4114800" cy="45720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931281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farmer reality in India: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49504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advisory — crops chosen by guesswork or peer pressure, not soil or seasonal science.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192024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Middlemen dependency compresses farmer income to 30–40% of market price.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234086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Fertilizer and pesticide misuse harms soil health and adds avoidable cost every season.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279173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schemes (PM-KISAN, Crop Insurance) go unclaimed due to poor awareness.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20708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pre-season cost/profit estimate — farmers commit budgets without financial visibility.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4122186"/>
            <a:ext cx="6400800" cy="761766"/>
          </a:xfrm>
          <a:prstGeom prst="rect">
            <a:avLst/>
          </a:prstGeom>
          <a:solidFill>
            <a:srgbClr val="A8D5C2"/>
          </a:solidFill>
          <a:ln w="12700">
            <a:solidFill>
              <a:srgbClr val="A8D5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65810" y="4212219"/>
            <a:ext cx="60121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for the System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accessible, offline-capable advisory tool that consolidates crop science, financial planning, and market data into one guided console session — available at Krishi Vigyan Kendras and Common Service Centres.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9034" y="1405011"/>
            <a:ext cx="1427871" cy="905256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57932" y="1410639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140M+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64967" y="1864497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Farmers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28703" y="1341973"/>
            <a:ext cx="1417320" cy="949744"/>
          </a:xfrm>
          <a:prstGeom prst="roundRect">
            <a:avLst>
              <a:gd name="adj" fmla="val 8333"/>
            </a:avLst>
          </a:prstGeom>
          <a:solidFill>
            <a:srgbClr val="FFF8E1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260123" y="1388661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&lt;40%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309360" y="18784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Retained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567706"/>
            <a:ext cx="1427871" cy="905256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73061" y="2589861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325815" y="297461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Unclaimed Schemes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58133" y="2531659"/>
            <a:ext cx="1427871" cy="861997"/>
          </a:xfrm>
          <a:prstGeom prst="roundRect">
            <a:avLst>
              <a:gd name="adj" fmla="val 8333"/>
            </a:avLst>
          </a:prstGeom>
          <a:solidFill>
            <a:srgbClr val="FFF8E1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042074" y="2557331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119447" y="3010485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Advisory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320040"/>
            <a:ext cx="45860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50976"/>
            <a:ext cx="2011680" cy="34747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9646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344168"/>
            <a:ext cx="4114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AgriAssist — a console-based Python decision-support system that accepts 6 farmer inputs and delivers a complete season advisory covering crop, inputs, finance, market, and risk — in one offline session.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282483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060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crop scoring engine (soil + water + season)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898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eligibility checker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4904" y="3200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Fertilizer &amp; pesticide matching by soil and crop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47964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&amp; buyer ranking with price comparison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73989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cost, revenue &amp; profit estimation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019843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risk score with breakdown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75052" y="1124712"/>
            <a:ext cx="3017520" cy="3657600"/>
          </a:xfrm>
          <a:prstGeom prst="rect">
            <a:avLst/>
          </a:prstGeom>
          <a:solidFill>
            <a:srgbClr val="0D3320"/>
          </a:solidFill>
          <a:ln w="12700">
            <a:noFill/>
            <a:prstDash val="solid"/>
          </a:ln>
          <a:effectLst>
            <a:outerShdw blurRad="184150" dist="241300" dir="11520000" sx="110000" sy="110000" algn="ctr">
              <a:srgbClr val="000000">
                <a:alpha val="18000"/>
              </a:srgbClr>
            </a:outerShdw>
          </a:effectLst>
          <a:scene3d>
            <a:camera prst="perspectiveFront" fov="5100000">
              <a:rot lat="0" lon="2100000" rev="0"/>
            </a:camera>
            <a:lightRig rig="flood" dir="t">
              <a:rot lat="0" lon="0" rev="13800000"/>
            </a:lightRig>
          </a:scene3d>
          <a:sp3d extrusionH="107950" prstMaterial="plastic">
            <a:bevelT w="82550" h="63500" prst="divot"/>
            <a:bevelB/>
          </a:sp3d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4283612" y="1189775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44568" y="1613916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562856" y="1632204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156362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enters 6 inputs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704" y="2094679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86772" y="2112967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0528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validated &amp; stored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3407" y="2571750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586772" y="258775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251741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modules run in sequence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96618" y="3081528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581144" y="3088561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30266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reads prior output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86772" y="3584448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586772" y="359429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74920" y="35341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Report assembled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04004" y="4061343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604004" y="408736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70700" y="403707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printed / saved as .txt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320040"/>
            <a:ext cx="49025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790605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for AgriAssist — Smart Farmer Advisory System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01952" y="140817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LAYER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66744" y="140817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MODULE ENGINE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431536" y="140817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OUTPUT LAYER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196328" y="1408176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REPORT LAYER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7160" y="4800600"/>
            <a:ext cx="8869680" cy="32004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182880" y="4818888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 · No database · No internet required — fully offline console application</a:t>
            </a:r>
            <a:endParaRPr lang="en-US" sz="11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8D3F7FB-ADFC-4258-A430-BFDA9159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63" y="1138076"/>
            <a:ext cx="3984036" cy="3635091"/>
          </a:xfrm>
          <a:prstGeom prst="rect">
            <a:avLst/>
          </a:prstGeom>
        </p:spPr>
      </p:pic>
      <p:sp>
        <p:nvSpPr>
          <p:cNvPr id="33" name="Shape 2">
            <a:extLst>
              <a:ext uri="{FF2B5EF4-FFF2-40B4-BE49-F238E27FC236}">
                <a16:creationId xmlns:a16="http://schemas.microsoft.com/office/drawing/2014/main" id="{6E5D918A-FD26-C933-A5F9-AA28264A75F9}"/>
              </a:ext>
            </a:extLst>
          </p:cNvPr>
          <p:cNvSpPr/>
          <p:nvPr/>
        </p:nvSpPr>
        <p:spPr>
          <a:xfrm>
            <a:off x="5431536" y="1622709"/>
            <a:ext cx="2560320" cy="2560320"/>
          </a:xfrm>
          <a:prstGeom prst="ellipse">
            <a:avLst/>
          </a:prstGeom>
          <a:solidFill>
            <a:srgbClr val="2E7D32">
              <a:alpha val="25000"/>
            </a:srgbClr>
          </a:solidFill>
          <a:ln w="12700">
            <a:solidFill>
              <a:srgbClr val="2E7D32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9524D1DA-B4D6-7540-3294-8ECCFACE479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5021037" y="1074069"/>
            <a:ext cx="3657600" cy="36576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5ED07FE-F38A-30E3-3742-D4C957596B7F}"/>
              </a:ext>
            </a:extLst>
          </p:cNvPr>
          <p:cNvSpPr txBox="1"/>
          <p:nvPr/>
        </p:nvSpPr>
        <p:spPr>
          <a:xfrm>
            <a:off x="5681940" y="2375635"/>
            <a:ext cx="895409" cy="3077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34925">
            <a:solidFill>
              <a:srgbClr val="FFFFFF"/>
            </a:solidFill>
          </a:ln>
          <a:effectLst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txBody>
          <a:bodyPr wrap="square" rtlCol="0">
            <a:spAutoFit/>
          </a:bodyPr>
          <a:lstStyle/>
          <a:p>
            <a:r>
              <a:rPr lang="en-US" sz="1400" dirty="0"/>
              <a:t>AgriAssist</a:t>
            </a:r>
            <a:endParaRPr lang="en-IN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320040"/>
            <a:ext cx="58380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METHODOLOGY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2377440" cy="34747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822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Design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2435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static JSON datasets loaded at startup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" y="15819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Crops, schemes, fertilizers, pesticides, loans, vendors, market prices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0040" y="19019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Flat-file design — no database server needed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2342974"/>
            <a:ext cx="2377440" cy="34747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20040" y="237955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Engine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" y="274109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modules run in strict dependency order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0040" y="308856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receives output of prior module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0040" y="339242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classes + dataclasses for clean structure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3836611"/>
            <a:ext cx="2377440" cy="34747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20040" y="3836611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Logic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" y="424281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scoring: Soil(40) + Water(35) + Season(25) = 100pts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0040" y="50292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Water risk + Market risk + Budget risk = 0-100%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20040" y="5376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 </a:t>
            </a: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= Revenue − (Cultivation + Fertilizer + Pesticide)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61350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Execution Flow</a:t>
            </a:r>
            <a:endParaRPr lang="en-US" sz="1200" b="1" dirty="0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1828800" cy="713232"/>
          </a:xfrm>
          <a:prstGeom prst="roundRect">
            <a:avLst>
              <a:gd name="adj" fmla="val 10256"/>
            </a:avLst>
          </a:prstGeom>
          <a:ln/>
        </p:spPr>
        <p:style>
          <a:lnRef idx="1">
            <a:schemeClr val="dk1"/>
          </a:lnRef>
          <a:fillRef idx="1001">
            <a:schemeClr val="dk2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36592" y="140817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Profile Collection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36592" y="171907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validated inputs from farmer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75120" y="1371600"/>
            <a:ext cx="1828800" cy="713232"/>
          </a:xfrm>
          <a:prstGeom prst="roundRect">
            <a:avLst>
              <a:gd name="adj" fmla="val 10256"/>
            </a:avLst>
          </a:prstGeom>
          <a:ln/>
        </p:spPr>
        <p:style>
          <a:lnRef idx="1">
            <a:schemeClr val="dk1"/>
          </a:lnRef>
          <a:fillRef idx="1001">
            <a:schemeClr val="dk2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748272" y="140817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Crop Engine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48272" y="171907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&amp; rank all 10 crops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212848"/>
            <a:ext cx="1828800" cy="713232"/>
          </a:xfrm>
          <a:prstGeom prst="roundRect">
            <a:avLst>
              <a:gd name="adj" fmla="val 10256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736592" y="224942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Fertilizer + Pesticide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36592" y="25603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to crop &amp; soil type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675120" y="2212848"/>
            <a:ext cx="1828800" cy="713232"/>
          </a:xfrm>
          <a:prstGeom prst="roundRect">
            <a:avLst>
              <a:gd name="adj" fmla="val 10256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748272" y="224942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Scheme Advisor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48272" y="25603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rules check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3054096"/>
            <a:ext cx="1828800" cy="713232"/>
          </a:xfrm>
          <a:prstGeom prst="roundRect">
            <a:avLst>
              <a:gd name="adj" fmla="val 10256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736592" y="30906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Profit Predictor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36592" y="340156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revenue, ROI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675120" y="3054096"/>
            <a:ext cx="1828800" cy="713232"/>
          </a:xfrm>
          <a:prstGeom prst="roundRect">
            <a:avLst>
              <a:gd name="adj" fmla="val 10256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748272" y="30906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Loan Module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48272" y="340156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gap &amp; loan options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3895344"/>
            <a:ext cx="1828800" cy="713232"/>
          </a:xfrm>
          <a:prstGeom prst="roundRect">
            <a:avLst>
              <a:gd name="adj" fmla="val 10256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736592" y="39319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Risk Assessment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36592" y="424281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3-factor risk score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675120" y="3895344"/>
            <a:ext cx="1828800" cy="713232"/>
          </a:xfrm>
          <a:prstGeom prst="roundRect">
            <a:avLst>
              <a:gd name="adj" fmla="val 10256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6748272" y="39319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Report Generator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48272" y="424281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advisory output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320040"/>
            <a:ext cx="516987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1155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AgriAssist delivers to a farmer in one session: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606040" cy="1353312"/>
          </a:xfrm>
          <a:prstGeom prst="roundRect">
            <a:avLst>
              <a:gd name="adj" fmla="val 6757"/>
            </a:avLst>
          </a:prstGeom>
          <a:solidFill>
            <a:srgbClr val="E8F5E9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158191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Crop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11480" y="216712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crop for current soil, water &amp; season — with suitability score and 2 alternatives.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08960" y="1508760"/>
            <a:ext cx="2606040" cy="1353312"/>
          </a:xfrm>
          <a:prstGeom prst="roundRect">
            <a:avLst>
              <a:gd name="adj" fmla="val 6757"/>
            </a:avLst>
          </a:prstGeom>
          <a:solidFill>
            <a:srgbClr val="F5F8FA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49040" y="158191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Plan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246120" y="216712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fertilizer &amp; pesticide with dosage, company name, and total cost per farm.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943600" y="1508760"/>
            <a:ext cx="2606040" cy="1353312"/>
          </a:xfrm>
          <a:prstGeom prst="roundRect">
            <a:avLst>
              <a:gd name="adj" fmla="val 6757"/>
            </a:avLst>
          </a:prstGeom>
          <a:solidFill>
            <a:srgbClr val="E8F5E9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373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83680" y="158191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Benefits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080760" y="216712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 government schemes checked — PM-KISAN, Crop Insurance, Irrigation Subsidy &amp; more.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274320" y="3017520"/>
            <a:ext cx="2606040" cy="1353312"/>
          </a:xfrm>
          <a:prstGeom prst="roundRect">
            <a:avLst>
              <a:gd name="adj" fmla="val 6757"/>
            </a:avLst>
          </a:prstGeom>
          <a:solidFill>
            <a:srgbClr val="F5F8FA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24612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4400" y="30906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Forecast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11480" y="36758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cost breakdown, expected revenue, net profit &amp; ROI% before the season starts.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3108960" y="3017520"/>
            <a:ext cx="2606040" cy="1353312"/>
          </a:xfrm>
          <a:prstGeom prst="roundRect">
            <a:avLst>
              <a:gd name="adj" fmla="val 6757"/>
            </a:avLst>
          </a:prstGeom>
          <a:solidFill>
            <a:srgbClr val="E8F5E9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6120" y="3246120"/>
            <a:ext cx="411480" cy="4114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749040" y="30906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Buyer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3246120" y="36758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vendor list with price premium, rating &amp; contact — no middleman required.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943600" y="3017520"/>
            <a:ext cx="2606040" cy="1353312"/>
          </a:xfrm>
          <a:prstGeom prst="roundRect">
            <a:avLst>
              <a:gd name="adj" fmla="val 6757"/>
            </a:avLst>
          </a:prstGeom>
          <a:solidFill>
            <a:srgbClr val="F5F8FA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0760" y="3246120"/>
            <a:ext cx="411480" cy="4114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583680" y="309067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6080760" y="36758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0–100% overall risk with water, market &amp; budget sub-scores and plain-language verdict.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4"/>
          <p:cNvSpPr/>
          <p:nvPr/>
        </p:nvSpPr>
        <p:spPr>
          <a:xfrm>
            <a:off x="0" y="4818888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outputs compiled into one printable Farmer Advisory Report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3200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DISSEMINATION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6715" y="3759766"/>
            <a:ext cx="4246685" cy="12221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Dissemination Plan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at Krishi Vigyan Kendras (KVKs).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at Common Service Centres (CSCs) in rural blocks.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NGOs and Farmer Producer Organisations (FPOs).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 deployment — standard Python 3.10+ on any laptop.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09160" y="1170432"/>
            <a:ext cx="1600200" cy="1115568"/>
          </a:xfrm>
          <a:prstGeom prst="roundRect">
            <a:avLst>
              <a:gd name="adj" fmla="val 8197"/>
            </a:avLst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709160" y="12618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709160" y="184708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sample farm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1170432"/>
            <a:ext cx="1600200" cy="1115568"/>
          </a:xfrm>
          <a:prstGeom prst="roundRect">
            <a:avLst>
              <a:gd name="adj" fmla="val 8197"/>
            </a:avLst>
          </a:prstGeom>
          <a:solidFill>
            <a:srgbClr val="FFF8E1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92240" y="12618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92240" y="184708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Schemes per farmer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2423160"/>
            <a:ext cx="1600200" cy="1115568"/>
          </a:xfrm>
          <a:prstGeom prst="roundRect">
            <a:avLst>
              <a:gd name="adj" fmla="val 8197"/>
            </a:avLst>
          </a:prstGeom>
          <a:solidFill>
            <a:srgbClr val="E3F2FD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709160" y="25146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9160" y="309981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deploy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2423160"/>
            <a:ext cx="1600200" cy="1115568"/>
          </a:xfrm>
          <a:prstGeom prst="roundRect">
            <a:avLst>
              <a:gd name="adj" fmla="val 8197"/>
            </a:avLst>
          </a:prstGeom>
          <a:solidFill>
            <a:srgbClr val="FCE4EC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72465" y="3657600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777740" y="371949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KVKs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10918" y="437083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Centres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23560" y="3692592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623560" y="375976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00700" y="43676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Service Centres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92240" y="3668854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92240" y="3745523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FPOs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46520" y="437083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Collectives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60920" y="3630168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7360920" y="374675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360920" y="437839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Organisations</a:t>
            </a:r>
            <a:endParaRPr lang="en-US" sz="8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125DFA-DDC8-49CB-6962-525B9F845AD0}"/>
              </a:ext>
            </a:extLst>
          </p:cNvPr>
          <p:cNvSpPr txBox="1"/>
          <p:nvPr/>
        </p:nvSpPr>
        <p:spPr>
          <a:xfrm>
            <a:off x="135400" y="1259751"/>
            <a:ext cx="454386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Impact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farmer dependence on middlemen.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government scheme benefits that go unclaimed.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Empowers small &amp; marginal landholders with expert-level advisory.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operated by CSC staff on behalf of low-literacy farmers.</a:t>
            </a:r>
            <a:endParaRPr lang="en-US" sz="16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6403CF-7377-BED7-A121-F433A593DF69}"/>
              </a:ext>
            </a:extLst>
          </p:cNvPr>
          <p:cNvSpPr txBox="1"/>
          <p:nvPr/>
        </p:nvSpPr>
        <p:spPr>
          <a:xfrm>
            <a:off x="119575" y="2635246"/>
            <a:ext cx="457551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scenario: Rs.2,98,375 net profit vs Rs.50,000 budget.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recommendation delivers 6–10% above-market price.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cost reduction through correct fertilizer/pesticide match.</a:t>
            </a:r>
            <a:endParaRPr lang="en-IN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3200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TIMELINE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12648" y="1170432"/>
            <a:ext cx="2011680" cy="34747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58368" y="1210877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Resources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(free)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" y="18699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IDE (free)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" y="218770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datasets (built-in)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2497015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Windows/Linux laptop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" y="2841321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required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" y="3230469"/>
            <a:ext cx="2011680" cy="34747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57784" y="326440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Resources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" y="3612935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— Crop Intelligence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" y="3923831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— Finance &amp; Govt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234727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— Market &amp; Report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63240" y="107406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— 1  Weeks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54680" y="1924460"/>
            <a:ext cx="4206240" cy="54864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081528" y="1741580"/>
            <a:ext cx="384048" cy="384048"/>
          </a:xfrm>
          <a:prstGeom prst="ellipse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40740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90088" y="13209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80360" y="2235356"/>
            <a:ext cx="804672" cy="2194560"/>
          </a:xfrm>
          <a:prstGeom prst="roundRect">
            <a:avLst>
              <a:gd name="adj" fmla="val 9091"/>
            </a:avLst>
          </a:prstGeom>
          <a:solidFill>
            <a:srgbClr val="F5F8FA"/>
          </a:solidFill>
          <a:ln w="12700">
            <a:solidFill>
              <a:srgbClr val="D0D0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2916936" y="22902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916936" y="2719988"/>
            <a:ext cx="731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models, datasets, folder structure, stubs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813048" y="1741580"/>
            <a:ext cx="384048" cy="384048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13892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721608" y="13209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11880" y="2235356"/>
            <a:ext cx="804672" cy="2194560"/>
          </a:xfrm>
          <a:prstGeom prst="roundRect">
            <a:avLst>
              <a:gd name="adj" fmla="val 9091"/>
            </a:avLst>
          </a:prstGeom>
          <a:solidFill>
            <a:srgbClr val="F5F8FA"/>
          </a:solidFill>
          <a:ln w="12700">
            <a:solidFill>
              <a:srgbClr val="D0D0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648456" y="22902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48456" y="2719988"/>
            <a:ext cx="731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&amp; 2 modules built and unit-tested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44568" y="1741580"/>
            <a:ext cx="384048" cy="384048"/>
          </a:xfrm>
          <a:prstGeom prst="ellipse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587044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53128" y="13209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343400" y="2235356"/>
            <a:ext cx="804672" cy="2194560"/>
          </a:xfrm>
          <a:prstGeom prst="roundRect">
            <a:avLst>
              <a:gd name="adj" fmla="val 9091"/>
            </a:avLst>
          </a:prstGeom>
          <a:solidFill>
            <a:srgbClr val="F5F8FA"/>
          </a:solidFill>
          <a:ln w="12700">
            <a:solidFill>
              <a:srgbClr val="D0D0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379976" y="22902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79976" y="2719988"/>
            <a:ext cx="731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wired through main.py controller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276088" y="1741580"/>
            <a:ext cx="384048" cy="38404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60196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84648" y="13209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4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74920" y="2235356"/>
            <a:ext cx="804672" cy="2194560"/>
          </a:xfrm>
          <a:prstGeom prst="roundRect">
            <a:avLst>
              <a:gd name="adj" fmla="val 9091"/>
            </a:avLst>
          </a:prstGeom>
          <a:solidFill>
            <a:srgbClr val="F5F8FA"/>
          </a:solidFill>
          <a:ln w="12700">
            <a:solidFill>
              <a:srgbClr val="D0D0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5111496" y="22902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111496" y="2719988"/>
            <a:ext cx="731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skeleton completed, new modules added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007608" y="1741580"/>
            <a:ext cx="384048" cy="384048"/>
          </a:xfrm>
          <a:prstGeom prst="ellipse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733348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16168" y="13209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0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06440" y="2235356"/>
            <a:ext cx="804672" cy="2194560"/>
          </a:xfrm>
          <a:prstGeom prst="roundRect">
            <a:avLst>
              <a:gd name="adj" fmla="val 9091"/>
            </a:avLst>
          </a:prstGeom>
          <a:solidFill>
            <a:srgbClr val="F5F8FA"/>
          </a:solidFill>
          <a:ln w="12700">
            <a:solidFill>
              <a:srgbClr val="D0D0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5843016" y="22902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80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843016" y="2719988"/>
            <a:ext cx="731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farmer scenarios tested, edge cases fixed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739128" y="1741580"/>
            <a:ext cx="384048" cy="384048"/>
          </a:xfrm>
          <a:prstGeom prst="ellipse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806500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47688" y="13209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6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37960" y="2235356"/>
            <a:ext cx="804672" cy="2194560"/>
          </a:xfrm>
          <a:prstGeom prst="roundRect">
            <a:avLst>
              <a:gd name="adj" fmla="val 9091"/>
            </a:avLst>
          </a:prstGeom>
          <a:solidFill>
            <a:srgbClr val="F5F8FA"/>
          </a:solidFill>
          <a:ln w="12700">
            <a:solidFill>
              <a:srgbClr val="D0D0D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6574536" y="22902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574536" y="2719988"/>
            <a:ext cx="731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Documentation, demo, presentation ready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3128C5-FE52-A74C-6385-0129EA524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2B1BD8-B10F-0022-F0EB-6E93808B244C}"/>
              </a:ext>
            </a:extLst>
          </p:cNvPr>
          <p:cNvSpPr/>
          <p:nvPr/>
        </p:nvSpPr>
        <p:spPr>
          <a:xfrm>
            <a:off x="7772400" y="0"/>
            <a:ext cx="1371600" cy="16459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1329A8-DF15-D7E2-37BC-33A03BC9BB89}"/>
              </a:ext>
            </a:extLst>
          </p:cNvPr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B8D8E8"/>
          </a:solidFill>
          <a:ln w="12700">
            <a:solidFill>
              <a:srgbClr val="B8D8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AB6EFF-1D02-8736-639B-5DD1AF591350}"/>
              </a:ext>
            </a:extLst>
          </p:cNvPr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9AC203-CE75-543D-5168-568DE3CD5268}"/>
              </a:ext>
            </a:extLst>
          </p:cNvPr>
          <p:cNvSpPr/>
          <p:nvPr/>
        </p:nvSpPr>
        <p:spPr>
          <a:xfrm>
            <a:off x="274320" y="3200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28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5426EEE2-3659-8777-862D-D42D1ABA56C9}"/>
              </a:ext>
            </a:extLst>
          </p:cNvPr>
          <p:cNvSpPr/>
          <p:nvPr/>
        </p:nvSpPr>
        <p:spPr>
          <a:xfrm>
            <a:off x="8065008" y="1737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59E79043-0C1E-0F92-2A13-CE86E6D51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39" y="1874670"/>
            <a:ext cx="2746717" cy="3135689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89365CEE-9276-3355-687A-6F36AAE0AA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5523" y="1874670"/>
            <a:ext cx="2833928" cy="3135689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0CAE525-414C-8A1F-475D-F38103BCB6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9248" y="133141"/>
            <a:ext cx="3637838" cy="1570994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8A161D7-7B02-86FF-D9F1-FCDE20366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2718" y="1792777"/>
            <a:ext cx="2885742" cy="3217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35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37160"/>
            <a:ext cx="502920" cy="164592"/>
          </a:xfrm>
          <a:prstGeom prst="rect">
            <a:avLst/>
          </a:prstGeom>
          <a:solidFill>
            <a:srgbClr val="7EC8E3"/>
          </a:solidFill>
          <a:ln w="12700">
            <a:solidFill>
              <a:srgbClr val="7EC8E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3200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kern="0" spc="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0A1A0D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097280" y="1371600"/>
            <a:ext cx="2468880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3832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AgriAssist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0" y="987552"/>
            <a:ext cx="4251960" cy="2880360"/>
          </a:xfrm>
          <a:prstGeom prst="roundRect">
            <a:avLst>
              <a:gd name="adj" fmla="val 3175"/>
            </a:avLst>
          </a:prstGeom>
          <a:solidFill>
            <a:srgbClr val="A8D5C2"/>
          </a:solidFill>
          <a:ln w="12700">
            <a:solidFill>
              <a:srgbClr val="A8D5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709160" y="1078992"/>
            <a:ext cx="3977640" cy="2697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 12-module console advisory system for small and marginal Indian farmers.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crop science, government scheme awareness, financial planning, and market intelligence.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 — runs on any laptop with Python, zero infrastructure required.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 complete Farmer Advisory Report in one guided session.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from academic project to KVK/CSC pilot deployment.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0" y="39136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Outcome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0" y="4279392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smart, interpretable, and accessible farmer advisory framework — built for rural India.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  </a:t>
            </a:r>
            <a:r>
              <a:rPr lang="en-US" sz="1300" kern="0" spc="2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QUESTIONS &amp; DISCUSSION  </a:t>
            </a:r>
            <a:r>
              <a:rPr lang="en-US" sz="11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Presented by: </a:t>
            </a:r>
            <a:r>
              <a:rPr lang="en-US" sz="110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MUBARAK S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75FACE-53FD-09F0-0DCA-1E5DA4C8F66D}"/>
              </a:ext>
            </a:extLst>
          </p:cNvPr>
          <p:cNvSpPr txBox="1"/>
          <p:nvPr/>
        </p:nvSpPr>
        <p:spPr>
          <a:xfrm rot="241608">
            <a:off x="2463252" y="1741279"/>
            <a:ext cx="895409" cy="3077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34925">
            <a:solidFill>
              <a:srgbClr val="FFFFFF"/>
            </a:solidFill>
          </a:ln>
          <a:effectLst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txBody>
          <a:bodyPr wrap="square" rtlCol="0">
            <a:spAutoFit/>
          </a:bodyPr>
          <a:lstStyle/>
          <a:p>
            <a:r>
              <a:rPr lang="en-US" sz="1400" dirty="0"/>
              <a:t>AgriAssist</a:t>
            </a:r>
            <a:endParaRPr lang="en-I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1207</Words>
  <Application>Microsoft Office PowerPoint</Application>
  <PresentationFormat>On-screen Show (16:9)</PresentationFormat>
  <Paragraphs>208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AgriAssist — Smart Farmer Advisory System</dc:title>
  <dc:subject>PptxGenJS Presentation</dc:subject>
  <dc:creator>PptxGenJS</dc:creator>
  <cp:lastModifiedBy>Mubarak S</cp:lastModifiedBy>
  <cp:revision>6</cp:revision>
  <dcterms:created xsi:type="dcterms:W3CDTF">2026-06-29T05:40:52Z</dcterms:created>
  <dcterms:modified xsi:type="dcterms:W3CDTF">2026-07-03T07:30:35Z</dcterms:modified>
</cp:coreProperties>
</file>